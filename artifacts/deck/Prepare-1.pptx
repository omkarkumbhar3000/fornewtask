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The one-line story: the tool writes the tests, runs them, judges them and reports them -- for how the product accepts a request and for how it rejects one. It surfaced 13 product defects doing it. Everything traces to run 2026-08-05_114315.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constraints, both measured. The first is the important one: the response envelope means the assertion every other project relies on does not work here -- which is why a generic test tool would report green on failures. Sources: document-gap.md; OBJ-010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that matters to management: the Dynamic API Validator produces the tests and then judges them, so it is not another suite someone has to maintain. Point 3 is worth stressing -- it is why we can run this against a live QA environment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4 is the differentiator. Stages 1-3 are what any generator does; reading the envelope is what makes the results trustworthy on this product. The band is the proof of determinism -- an auditor's question, answered in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this slide is capability, not volume. Both versions write every test themselves -- no engineer authored a case in either. Version 0.1 only covered the happy path. Version 0.2 adds the negative dimensions: wrong HTTP method, unauthorised access, invalid query parameters, and a database check that a write actually landed. That is the half of API quality nobody was testing before. If asked about volume: yes, it grew too, but the capability is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13, not 12 -- that is the measured count and it matches the 13 evidence packs. On the authentication finding: describe it as an authentication-handling defect, packaged and ready to raise, and do not give endpoint counts or names in this room. It is open and unraised, and raising it is the owner's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reframes a documentation problem as a delivery risk. On the 31 formats, in plain terms: imagine ordering from 31 suppliers who each send the invoice in a different layout, and only 6 of those layouts were ever shown to you. Every new integration has to rediscover the other 25 by trial and error, and each rediscovery is a bug found late. Measured across 1,868 captured responses. Source: workbench/document-gap.md.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asks, both cheap: approve the findings for raising, and name the next project. Note that the payload-data gap is the one thing that will bite on any new project -- budget for getting an OpenAPI or Postman source, not for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1645920"/>
            <a:ext cx="5943600" cy="5943600"/>
          </a:xfrm>
          <a:prstGeom prst="ellipse">
            <a:avLst/>
          </a:prstGeom>
          <a:solidFill>
            <a:srgbClr val="E8722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37360" y="4023360"/>
            <a:ext cx="5029200" cy="502920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603504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2620"/>
                </a:solidFill>
                <a:latin typeface="Segoe UI Semibold"/>
              </a:rPr>
              <a:t>ARCON PAM</a:t>
            </a:r>
            <a:r>
              <a:rPr sz="1900" b="1">
                <a:solidFill>
                  <a:srgbClr val="E8722C"/>
                </a:solidFill>
                <a:latin typeface="Segoe UI Semibold"/>
              </a:rPr>
              <a:t> | Dynamic API Validator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603504"/>
            <a:ext cx="384048" cy="38404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722376"/>
            <a:ext cx="146304" cy="14630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035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6796B"/>
                </a:solidFill>
                <a:latin typeface="Segoe UI"/>
              </a:rPr>
              <a:t>MANAGEMENT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3794760" cy="402336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379476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25318"/>
                </a:solidFill>
                <a:latin typeface="Segoe UI"/>
              </a:rPr>
              <a:t>AI-DRIVEN API TEST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>
                <a:solidFill>
                  <a:srgbClr val="2E2620"/>
                </a:solidFill>
                <a:latin typeface="Segoe UI Black"/>
              </a:rPr>
              <a:t>No hand-written tests.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>
                <a:solidFill>
                  <a:srgbClr val="2E2620"/>
                </a:solidFill>
                <a:latin typeface="Segoe UI Black"/>
              </a:rPr>
              <a:t>Positive and </a:t>
            </a:r>
            <a:r>
              <a:rPr sz="5000" b="1">
                <a:solidFill>
                  <a:srgbClr val="E8722C"/>
                </a:solidFill>
                <a:latin typeface="Segoe UI Black"/>
              </a:rPr>
              <a:t>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8463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574C42"/>
                </a:solidFill>
                <a:latin typeface="Segoe UI"/>
              </a:rPr>
              <a:t>The Dynamic API Validator reads our own catalogue and test data, then generates,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>
                <a:solidFill>
                  <a:srgbClr val="574C42"/>
                </a:solidFill>
                <a:latin typeface="Segoe UI"/>
              </a:rPr>
              <a:t>executes, validates and reports the whole API surface -- and it found 13 product defects doing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989320"/>
            <a:ext cx="2468880" cy="38404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6135624"/>
            <a:ext cx="82296" cy="82296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59893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Positive + negative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6976" y="5989320"/>
            <a:ext cx="2194560" cy="38404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83280" y="6135624"/>
            <a:ext cx="82296" cy="82296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598932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Zero hand-written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1264" y="5989320"/>
            <a:ext cx="2331720" cy="38404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7568" y="6135624"/>
            <a:ext cx="82296" cy="82296"/>
          </a:xfrm>
          <a:prstGeom prst="ellipse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59" y="59893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Envelope-aware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2712" y="5989320"/>
            <a:ext cx="1828800" cy="38404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29016" y="6135624"/>
            <a:ext cx="82296" cy="82296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59893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13 findings raised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463040"/>
            <a:ext cx="4572000" cy="4572000"/>
          </a:xfrm>
          <a:prstGeom prst="ellipse">
            <a:avLst/>
          </a:prstGeom>
          <a:solidFill>
            <a:srgbClr val="D95F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548640"/>
            <a:ext cx="109728" cy="109728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5318"/>
                </a:solidFill>
                <a:latin typeface="Segoe UI"/>
              </a:rP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502920" cy="64008"/>
          </a:xfrm>
          <a:prstGeom prst="roundRect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2E2620"/>
                </a:solidFill>
                <a:latin typeface="Segoe UI Semibold"/>
              </a:rPr>
              <a:t>Testing this API by hand </a:t>
            </a:r>
            <a:r>
              <a:rPr sz="3300" b="1">
                <a:solidFill>
                  <a:srgbClr val="D95F3B"/>
                </a:solidFill>
                <a:latin typeface="Segoe UI Semibold"/>
              </a:rPr>
              <a:t>does not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86796B"/>
                </a:solidFill>
                <a:latin typeface="Segoe UI"/>
              </a:rPr>
              <a:t>1,306 declared endpoints, and a response format that makes the industry-standard assertion meaningless.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17520"/>
            <a:ext cx="10881360" cy="141732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82296" cy="1417320"/>
          </a:xfrm>
          <a:prstGeom prst="roundRect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255263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5F3B"/>
                </a:solidFill>
                <a:latin typeface="Segoe UI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3255263"/>
            <a:ext cx="9555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Status codes are not verdicts on this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703320"/>
            <a:ext cx="9555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PAM answers a rejected request with HTTP 200 and puts the real error inside the body. An assertion that checks only the status code passes on a fully failed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17720"/>
            <a:ext cx="10881360" cy="141732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4617720"/>
            <a:ext cx="82296" cy="1417320"/>
          </a:xfrm>
          <a:prstGeom prst="roundRect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485546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5F3B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4855464"/>
            <a:ext cx="9555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70% of the API is undocumented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5303520"/>
            <a:ext cx="9555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914 of 1,306 endpoints have no documentation at all, so a tester has to guess the request payload before writing a single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554480"/>
            <a:ext cx="5120640" cy="5120640"/>
          </a:xfrm>
          <a:prstGeom prst="ellipse">
            <a:avLst/>
          </a:prstGeom>
          <a:solidFill>
            <a:srgbClr val="E8722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548640"/>
            <a:ext cx="109728" cy="109728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5318"/>
                </a:solidFill>
                <a:latin typeface="Segoe UI"/>
              </a:rPr>
              <a:t>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502920" cy="64008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2E2620"/>
                </a:solidFill>
                <a:latin typeface="Segoe UI Semibold"/>
              </a:rPr>
              <a:t>Generated tests, </a:t>
            </a:r>
            <a:r>
              <a:rPr sz="3300" b="1">
                <a:solidFill>
                  <a:srgbClr val="E8722C"/>
                </a:solidFill>
                <a:latin typeface="Segoe UI Semibold"/>
              </a:rPr>
              <a:t>validated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86796B"/>
                </a:solidFill>
                <a:latin typeface="Segoe UI"/>
              </a:rPr>
              <a:t>The tool derives tests from assets we already own, then runs, judges and reports them end to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5285232" cy="157276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880360"/>
            <a:ext cx="82296" cy="1572768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11810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722C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118104"/>
            <a:ext cx="39593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Generates, never transcribes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3566160"/>
            <a:ext cx="3959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Endpoint catalogue plus the QA team's own Excel scenarios in, 747 executable flows and 5,590 cases out. No hand-written test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880360"/>
            <a:ext cx="5285232" cy="157276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2880360"/>
            <a:ext cx="82296" cy="1572768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11810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722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3118104"/>
            <a:ext cx="39593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Judges the body, not the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566160"/>
            <a:ext cx="3959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A seven-layer validator reads the response envelope, so a green HTTP 200 that actually failed is reported as a failure.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727448"/>
            <a:ext cx="5285232" cy="157276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727448"/>
            <a:ext cx="82296" cy="1572768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5" y="49651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722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4965192"/>
            <a:ext cx="39593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Safe by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5413248"/>
            <a:ext cx="3959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A bare run makes zero HTTP calls. Destructive endpoints are blocked by name at generation time, and credentials latch after one failure.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2784" y="4727448"/>
            <a:ext cx="5285232" cy="1572768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2784" y="4727448"/>
            <a:ext cx="82296" cy="1572768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49651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722C"/>
                </a:solidFill>
                <a:latin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4965192"/>
            <a:ext cx="39593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Evidence for every claim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344" y="5413248"/>
            <a:ext cx="395935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One JSON record per hop with secrets redacted -- 5,424 files -- plus a nine-worksheet workbook and a run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737360"/>
            <a:ext cx="4754880" cy="475488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548640"/>
            <a:ext cx="109728" cy="109728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5318"/>
                </a:solidFill>
                <a:latin typeface="Segoe UI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502920" cy="6400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2E2620"/>
                </a:solidFill>
                <a:latin typeface="Segoe UI Semibold"/>
              </a:rPr>
              <a:t>Catalogue in, </a:t>
            </a:r>
            <a:r>
              <a:rPr sz="3300" b="1">
                <a:solidFill>
                  <a:srgbClr val="F2A93B"/>
                </a:solidFill>
                <a:latin typeface="Segoe UI Semibold"/>
              </a:rPr>
              <a:t>validated evidence out</a:t>
            </a:r>
            <a:r>
              <a:rPr sz="3300" b="1">
                <a:solidFill>
                  <a:srgbClr val="2E2620"/>
                </a:solidFill>
                <a:latin typeface="Segoe UI Semibol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86796B"/>
                </a:solidFill>
                <a:latin typeface="Segoe UI"/>
              </a:rPr>
              <a:t>Five deterministic stages. The AI writes the flows; fixed code does every measurement, every file and every judgement.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80360"/>
            <a:ext cx="2048256" cy="1874519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2048256" cy="82296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3127248"/>
            <a:ext cx="420624" cy="420624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2724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033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2620"/>
                </a:solidFill>
                <a:latin typeface="Segoe UI Semibold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050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1,306-endpoint catalogue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plus the QA Excel 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75887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ADCC3"/>
                </a:solidFill>
                <a:latin typeface="Segoe UI Semibold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215" y="2880360"/>
            <a:ext cx="2048256" cy="1874519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71215" y="2880360"/>
            <a:ext cx="2048256" cy="82296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45535" y="3127248"/>
            <a:ext cx="420624" cy="42062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5535" y="312724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5" y="37033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2620"/>
                </a:solidFill>
                <a:latin typeface="Segoe UI Semibold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5" y="40050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Classify, pair and emit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747 multi-hop 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675887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ADCC3"/>
                </a:solidFill>
                <a:latin typeface="Segoe UI Semibold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4064" y="2880360"/>
            <a:ext cx="2048256" cy="1874519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84064" y="2880360"/>
            <a:ext cx="2048256" cy="82296"/>
          </a:xfrm>
          <a:prstGeom prst="roundRect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58383" y="3127248"/>
            <a:ext cx="420624" cy="420624"/>
          </a:xfrm>
          <a:prstGeom prst="ellipse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3" y="312724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3" y="37033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2620"/>
                </a:solidFill>
                <a:latin typeface="Segoe UI Semibold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3" y="40050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Chain runner carries context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hop to hop, resumable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3675887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ADCC3"/>
                </a:solidFill>
                <a:latin typeface="Segoe UI Semibold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2880360"/>
            <a:ext cx="2048256" cy="1874519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96912" y="2880360"/>
            <a:ext cx="2048256" cy="82296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1231" y="3127248"/>
            <a:ext cx="420624" cy="420624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1" y="312724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37033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2620"/>
                </a:solidFill>
                <a:latin typeface="Segoe UI Semibold"/>
              </a:rP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40050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Seven layers read the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envelope, not the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3675887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ADCC3"/>
                </a:solidFill>
                <a:latin typeface="Segoe UI Semibold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2880360"/>
            <a:ext cx="2048256" cy="1874519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09759" y="2880360"/>
            <a:ext cx="2048256" cy="82296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84080" y="3127248"/>
            <a:ext cx="420624" cy="420624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312724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7033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2620"/>
                </a:solidFill>
                <a:latin typeface="Segoe UI Semibold"/>
              </a:rPr>
              <a:t>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0050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Workbook, run report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74C42"/>
                </a:solidFill>
                <a:latin typeface="Segoe UI"/>
              </a:rPr>
              <a:t>and per-hop 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074920"/>
            <a:ext cx="10881360" cy="1143000"/>
          </a:xfrm>
          <a:prstGeom prst="roundRect">
            <a:avLst/>
          </a:prstGeom>
          <a:solidFill>
            <a:srgbClr val="FBE3CB"/>
          </a:solidFill>
          <a:ln w="18288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5318"/>
                </a:solidFill>
                <a:latin typeface="Segoe UI"/>
              </a:rPr>
              <a:t>THE DETERMINISTIC BOUNDARY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5778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>
                <a:solidFill>
                  <a:srgbClr val="2E2620"/>
                </a:solidFill>
                <a:latin typeface="Segoe UI Semibold"/>
              </a:rPr>
              <a:t>Re-scoring the prior run offline reproduced </a:t>
            </a:r>
            <a:r>
              <a:rPr sz="1550" b="1">
                <a:solidFill>
                  <a:srgbClr val="C25318"/>
                </a:solidFill>
                <a:latin typeface="Segoe UI Semibold"/>
              </a:rPr>
              <a:t>1,868 of 1,868 hops</a:t>
            </a:r>
            <a:r>
              <a:rPr sz="1550" b="1">
                <a:solidFill>
                  <a:srgbClr val="2E2620"/>
                </a:solidFill>
                <a:latin typeface="Segoe UI Semibold"/>
              </a:rPr>
              <a:t> a week later, with zero HTTP calls -- the generators are repeatable, not lucky.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645920"/>
            <a:ext cx="5486400" cy="5486400"/>
          </a:xfrm>
          <a:prstGeom prst="ellipse">
            <a:avLst/>
          </a:prstGeom>
          <a:solidFill>
            <a:srgbClr val="E8722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54480" y="4297680"/>
            <a:ext cx="4389120" cy="4389120"/>
          </a:xfrm>
          <a:prstGeom prst="ellipse">
            <a:avLst/>
          </a:prstGeom>
          <a:solidFill>
            <a:srgbClr val="D95F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548640"/>
            <a:ext cx="109728" cy="109728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5318"/>
                </a:solidFill>
                <a:latin typeface="Segoe UI"/>
              </a:rPr>
              <a:t>CAPABILITY PROGRESSION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502920" cy="64008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E2620"/>
                </a:solidFill>
                <a:latin typeface="Segoe UI Semibold"/>
              </a:rPr>
              <a:t>Version 0.1 tested how the API accepts. </a:t>
            </a:r>
            <a:r>
              <a:rPr sz="2700" b="1">
                <a:solidFill>
                  <a:srgbClr val="E8722C"/>
                </a:solidFill>
                <a:latin typeface="Segoe UI Semibold"/>
              </a:rPr>
              <a:t>0.2 also tests how it rejects.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86796B"/>
                </a:solidFill>
                <a:latin typeface="Segoe UI"/>
              </a:rPr>
              <a:t>Both versions are fully AI-generated from the same sources. The difference is what the product is tested for.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2651760"/>
          <a:ext cx="10881360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94960"/>
                <a:gridCol w="2468880"/>
                <a:gridCol w="30175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CAPABILITY</a:t>
                      </a:r>
                    </a:p>
                  </a:txBody>
                  <a:tcPr marL="109728" marR="109728" marT="27432" marB="27432" anchor="ctr"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VERSION 0.1</a:t>
                      </a:r>
                    </a:p>
                  </a:txBody>
                  <a:tcPr marL="109728" marR="109728" marT="27432" marB="27432" anchor="ctr"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VERSION 0.2</a:t>
                      </a:r>
                    </a:p>
                  </a:txBody>
                  <a:tcPr marL="109728" marR="109728" marT="27432" marB="27432" anchor="ctr">
                    <a:solidFill>
                      <a:srgbClr val="E872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AI-generated tests, no hand-written code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Positive API testing -- does it work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Negative API testing -- does it reject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Not supported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Unauthorized-access and wrong-method checks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Not supported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Database persistence verified after a write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Not supported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Envelope-aware validation, not status codes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Yes, seven layers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" y="5532120"/>
            <a:ext cx="10881360" cy="1051560"/>
          </a:xfrm>
          <a:prstGeom prst="roundRect">
            <a:avLst/>
          </a:prstGeom>
          <a:solidFill>
            <a:srgbClr val="FBE3CB"/>
          </a:solidFill>
          <a:ln w="18288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715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5318"/>
                </a:solidFill>
                <a:latin typeface="Segoe UI"/>
              </a:rPr>
              <a:t>WHY THIS IS THE RIGHT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60350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>
                <a:solidFill>
                  <a:srgbClr val="2E2620"/>
                </a:solidFill>
                <a:latin typeface="Segoe UI Semibold"/>
              </a:rPr>
              <a:t>Version 0.1 could only ask "did the API do what we asked?" Version 0.2 also asks "does it correctly refuse what it should?" -- </a:t>
            </a:r>
            <a:r>
              <a:rPr sz="1550" b="1">
                <a:solidFill>
                  <a:srgbClr val="C25318"/>
                </a:solidFill>
                <a:latin typeface="Segoe UI Semibold"/>
              </a:rPr>
              <a:t>half of API quality that was previously untested.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1645920"/>
            <a:ext cx="5303520" cy="5303520"/>
          </a:xfrm>
          <a:prstGeom prst="ellipse">
            <a:avLst/>
          </a:prstGeom>
          <a:solidFill>
            <a:srgbClr val="D95F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480560"/>
            <a:ext cx="4023360" cy="402336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548640"/>
            <a:ext cx="109728" cy="109728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5318"/>
                </a:solidFill>
                <a:latin typeface="Segoe UI"/>
              </a:rPr>
              <a:t>WHAT IT FOUND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502920" cy="64008"/>
          </a:xfrm>
          <a:prstGeom prst="roundRect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D95F3B"/>
                </a:solidFill>
                <a:latin typeface="Segoe UI Semibold"/>
              </a:rPr>
              <a:t>13 developer findings</a:t>
            </a:r>
            <a:r>
              <a:rPr sz="3300" b="1">
                <a:solidFill>
                  <a:srgbClr val="2E2620"/>
                </a:solidFill>
                <a:latin typeface="Segoe UI Semibold"/>
              </a:rPr>
              <a:t>, each with attached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86796B"/>
                </a:solidFill>
                <a:latin typeface="Segoe UI"/>
              </a:rPr>
              <a:t>Packaged one folder per finding -- a raisable ticket plus reproducible proof. One is raised as PAMIT-42744; the rest are drafted and held.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97480"/>
            <a:ext cx="2103120" cy="86868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281635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D95F3B"/>
                </a:solidFill>
                <a:latin typeface="Segoe UI Blac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816352"/>
            <a:ext cx="1051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Critical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2697480"/>
            <a:ext cx="2103120" cy="86868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81635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8722C"/>
                </a:solidFill>
                <a:latin typeface="Segoe UI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8" y="2816352"/>
            <a:ext cx="1051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2697480"/>
            <a:ext cx="2103120" cy="86868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7" y="281635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2A93B"/>
                </a:solidFill>
                <a:latin typeface="Segoe UI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816352"/>
            <a:ext cx="1051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Medium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2697480"/>
            <a:ext cx="2103120" cy="86868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281635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86796B"/>
                </a:solidFill>
                <a:latin typeface="Segoe UI Blac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816352"/>
            <a:ext cx="10515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Low /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2368" y="2697480"/>
            <a:ext cx="1755648" cy="868680"/>
          </a:xfrm>
          <a:prstGeom prst="roundRect">
            <a:avLst/>
          </a:prstGeom>
          <a:solidFill>
            <a:srgbClr val="FBE3CB"/>
          </a:solidFill>
          <a:ln w="18288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81635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25318"/>
                </a:solidFill>
                <a:latin typeface="Segoe UI Semibold"/>
              </a:rPr>
              <a:t>1 raised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74C42"/>
                </a:solidFill>
                <a:latin typeface="Segoe UI"/>
              </a:rPr>
              <a:t>12 held for review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" y="3794760"/>
          <a:ext cx="10881360" cy="2670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/>
                <a:gridCol w="1371600"/>
                <a:gridCol w="53035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FINDING</a:t>
                      </a:r>
                    </a:p>
                  </a:txBody>
                  <a:tcPr marL="109728" marR="109728" marT="27432" marB="27432" anchor="ctr"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SEVERITY</a:t>
                      </a:r>
                    </a:p>
                  </a:txBody>
                  <a:tcPr marL="109728" marR="109728" marT="27432" marB="27432" anchor="ctr"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 Semibold"/>
                        </a:rPr>
                        <a:t>WHY IT MATTERS</a:t>
                      </a:r>
                    </a:p>
                  </a:txBody>
                  <a:tcPr marL="109728" marR="109728" marT="27432" marB="27432" anchor="ctr">
                    <a:solidFill>
                      <a:srgbClr val="E872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HTTP 200 for application-level failures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Critical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Every consumer must parse the body to know if a call worked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Mutation exposed over HTTP GET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Medium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A state-changing operation is reachable by a plain GET request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Two endpoints stop the IIS application pool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Critical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Three sequential requests took the whole API to 503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Authentication handling defect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Critical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Evidence packaged and ready to raise -- awaiting your decision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31 response shapes / error register incomplete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High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No caller can reliably tell success from failure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620"/>
                          </a:solidFill>
                          <a:latin typeface="Segoe UI Semibold"/>
                        </a:rPr>
                        <a:t>348 of 1,388 endpoints exercised return 404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C25318"/>
                          </a:solidFill>
                          <a:latin typeface="Segoe UI Semibold"/>
                        </a:rPr>
                        <a:t>Medium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74C42"/>
                          </a:solidFill>
                          <a:latin typeface="Segoe UI"/>
                        </a:rPr>
                        <a:t>Deployment gap or a stale catalogue -- needs triage</a:t>
                      </a:r>
                    </a:p>
                  </a:txBody>
                  <a:tcPr marL="109728" marR="109728" marT="27432" marB="27432" anchor="ctr">
                    <a:lnB w="12700" cap="flat" cmpd="sng" algn="ctr">
                      <a:solidFill>
                        <a:srgbClr val="EADC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554480"/>
            <a:ext cx="4754880" cy="475488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548640"/>
            <a:ext cx="109728" cy="109728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5318"/>
                </a:solidFill>
                <a:latin typeface="Segoe UI"/>
              </a:rPr>
              <a:t>DOCUMENTATION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502920" cy="64008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F2A93B"/>
                </a:solidFill>
                <a:latin typeface="Segoe UI Semibold"/>
              </a:rPr>
              <a:t>70% of the API </a:t>
            </a:r>
            <a:r>
              <a:rPr sz="3300" b="1">
                <a:solidFill>
                  <a:srgbClr val="2E2620"/>
                </a:solidFill>
                <a:latin typeface="Segoe UI Semibold"/>
              </a:rPr>
              <a:t>is undocumented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86796B"/>
                </a:solidFill>
                <a:latin typeface="Segoe UI"/>
              </a:rPr>
              <a:t>Measured by comparing the automation catalogue against the internal API reference, page by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8920"/>
            <a:ext cx="3529584" cy="141732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990088"/>
            <a:ext cx="288950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D95F3B"/>
                </a:solidFill>
                <a:latin typeface="Segoe UI Black"/>
              </a:rPr>
              <a:t>914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70332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74C42"/>
                </a:solidFill>
                <a:latin typeface="Segoe UI"/>
              </a:rPr>
              <a:t>of 1,306 endpoints have no documentation at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788920"/>
            <a:ext cx="3529584" cy="141732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990088"/>
            <a:ext cx="288950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A93B"/>
                </a:solidFill>
                <a:latin typeface="Segoe UI Black"/>
              </a:rPr>
              <a:t>392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370332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74C42"/>
                </a:solidFill>
                <a:latin typeface="Segoe UI"/>
              </a:rPr>
              <a:t>documented and tested -- the 30% overlap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788920"/>
            <a:ext cx="3529584" cy="141732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990088"/>
            <a:ext cx="288950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E8722C"/>
                </a:solidFill>
                <a:latin typeface="Segoe UI Black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703320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74C42"/>
                </a:solidFill>
                <a:latin typeface="Segoe UI"/>
              </a:rPr>
              <a:t>documented endpoints absent from the catalogue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89120"/>
            <a:ext cx="5285232" cy="164592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4389120"/>
            <a:ext cx="82296" cy="164592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462686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A93B"/>
                </a:solidFill>
                <a:latin typeface="Segoe UI Semibold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626864"/>
            <a:ext cx="39593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Payloads bind by page proximity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5074920"/>
            <a:ext cx="39593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3,194 JSON examples exist and 1,654 bind to an endpoint -- positionally, so some bind wrong. Still the best payload source we have.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4389120"/>
            <a:ext cx="5285232" cy="164592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72784" y="4389120"/>
            <a:ext cx="82296" cy="164592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462686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A93B"/>
                </a:solidFill>
                <a:latin typeface="Segoe UI Semibold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4626864"/>
            <a:ext cx="395935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E2620"/>
                </a:solidFill>
                <a:latin typeface="Segoe UI Semibold"/>
              </a:rPr>
              <a:t>31 reply formats, only 6 written 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5074920"/>
            <a:ext cx="395935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574C42"/>
                </a:solidFill>
                <a:latin typeface="Segoe UI"/>
              </a:rPr>
              <a:t>The same API answers in 31 different formats. Everything that calls it -- our tests, the UI, any integration -- has to handle all 31, and 25 of them are nowhere in the documentation.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172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6796B"/>
                </a:solidFill>
                <a:latin typeface="Segoe UI"/>
              </a:rPr>
              <a:t>Why that matters: an undocumented reply format is one a developer only discovers when something breaks in production. The validator was taught all 31 so our tests do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CF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-1828800"/>
            <a:ext cx="5943600" cy="5943600"/>
          </a:xfrm>
          <a:prstGeom prst="ellipse">
            <a:avLst/>
          </a:prstGeom>
          <a:solidFill>
            <a:srgbClr val="E8722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F2A93B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548640"/>
            <a:ext cx="109728" cy="109728"/>
          </a:xfrm>
          <a:prstGeom prst="ellipse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25318"/>
                </a:solidFill>
                <a:latin typeface="Segoe UI"/>
              </a:rPr>
              <a:t>WHAT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70432"/>
            <a:ext cx="502920" cy="64008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E2620"/>
                </a:solidFill>
                <a:latin typeface="Segoe UI Semibold"/>
              </a:rPr>
              <a:t>Portable to the next project, </a:t>
            </a:r>
            <a:r>
              <a:rPr sz="3200" b="1">
                <a:solidFill>
                  <a:srgbClr val="E8722C"/>
                </a:solidFill>
                <a:latin typeface="Segoe UI Semibold"/>
              </a:rPr>
              <a:t>already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86796B"/>
                </a:solidFill>
                <a:latin typeface="Segoe UI"/>
              </a:rPr>
              <a:t>The onboarding kit is built. What is left is a decision on the findings and one data dependency.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88920"/>
            <a:ext cx="3529584" cy="160020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82296" cy="1600200"/>
          </a:xfrm>
          <a:prstGeom prst="round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026663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8722C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026663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2E2620"/>
                </a:solidFill>
                <a:latin typeface="Segoe UI Semibold"/>
              </a:rPr>
              <a:t>Next project: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3474720"/>
            <a:ext cx="220370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Profile schema, worked example, blank template, readiness validator and a portable onboarding skill -- built and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2788920"/>
            <a:ext cx="3529584" cy="160020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53128" y="2788920"/>
            <a:ext cx="82296" cy="16002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7176" y="3026663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A93B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3026663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2E2620"/>
                </a:solidFill>
                <a:latin typeface="Segoe UI Semibold"/>
              </a:rPr>
              <a:t>Close the payload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474720"/>
            <a:ext cx="220370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204 of 217 create endpoints cannot be driven -- nothing supplies a valid request body. An OpenAPI source removes this.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788920"/>
            <a:ext cx="3529584" cy="1600200"/>
          </a:xfrm>
          <a:prstGeom prst="roundRect">
            <a:avLst/>
          </a:prstGeom>
          <a:solidFill>
            <a:srgbClr val="F9EEDD"/>
          </a:solidFill>
          <a:ln w="9144">
            <a:solidFill>
              <a:srgbClr val="EA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2788920"/>
            <a:ext cx="82296" cy="1600200"/>
          </a:xfrm>
          <a:prstGeom prst="roundRect">
            <a:avLst/>
          </a:prstGeom>
          <a:solidFill>
            <a:srgbClr val="D95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6" y="3026663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95F3B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026663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2E2620"/>
                </a:solidFill>
                <a:latin typeface="Segoe UI Semibold"/>
              </a:rPr>
              <a:t>Triage and raise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3474720"/>
            <a:ext cx="2203704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74C42"/>
                </a:solidFill>
                <a:latin typeface="Segoe UI"/>
              </a:rPr>
              <a:t>348 endpoints returning 404 need a deployment-or-catalogue decision, and 12 findings are drafted awaiting approval.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54880"/>
            <a:ext cx="10881360" cy="1097280"/>
          </a:xfrm>
          <a:prstGeom prst="roundRect">
            <a:avLst/>
          </a:prstGeom>
          <a:solidFill>
            <a:srgbClr val="FBE3CB"/>
          </a:solidFill>
          <a:ln w="18288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25318"/>
                </a:solidFill>
                <a:latin typeface="Segoe UI"/>
              </a:rPr>
              <a:t>THE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25780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>
                <a:solidFill>
                  <a:srgbClr val="2E2620"/>
                </a:solidFill>
                <a:latin typeface="Segoe UI Semibold"/>
              </a:rPr>
              <a:t>Approve raising the held findings, and nominate the next project to onboard. </a:t>
            </a:r>
            <a:r>
              <a:rPr sz="1550" b="1">
                <a:solidFill>
                  <a:srgbClr val="C25318"/>
                </a:solidFill>
                <a:latin typeface="Segoe UI Semibold"/>
              </a:rPr>
              <a:t>The tooling is done -- what it needs now is a target.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6796B"/>
                </a:solidFill>
                <a:latin typeface="Segoe UI"/>
              </a:rPr>
              <a:t>Evidence: Reports/Runs/2026-08-05_114315  |  Reports/Summary/OBJ-010-Execution-Benchmark.md  |  workbench/developer-loopholes.md  |  workbench/document-gap.md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